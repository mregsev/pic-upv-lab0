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89" r:id="rId3"/>
    <p:sldId id="290" r:id="rId4"/>
    <p:sldId id="291" r:id="rId5"/>
    <p:sldId id="288" r:id="rId6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102A6-F98F-48C7-9AF4-68940EB5B3D9}" v="4" dt="2026-02-03T12:19:17.9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7" autoAdjust="0"/>
    <p:restoredTop sz="95033" autoAdjust="0"/>
  </p:normalViewPr>
  <p:slideViewPr>
    <p:cSldViewPr>
      <p:cViewPr>
        <p:scale>
          <a:sx n="113" d="100"/>
          <a:sy n="113" d="100"/>
        </p:scale>
        <p:origin x="39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19:54.710" v="164" actId="113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19:54.710" v="164" actId="113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19:54.710" v="164" actId="113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15:41.104" v="0" actId="47"/>
        <pc:sldMkLst>
          <pc:docMk/>
          <pc:sldMk cId="2900117438" sldId="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0.1. </a:t>
            </a:r>
            <a:r>
              <a:rPr lang="es-ES" sz="3200" b="1" dirty="0" err="1">
                <a:latin typeface="Lucida Sans"/>
                <a:cs typeface="Lucida Sans"/>
              </a:rPr>
              <a:t>ModeSolver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010_MODESOLVER_Student.ipynb </a:t>
            </a:r>
          </a:p>
          <a:p>
            <a:pPr algn="just"/>
            <a:r>
              <a:rPr lang="en-US" b="1" kern="0" dirty="0">
                <a:solidFill>
                  <a:sysClr val="windowText" lastClr="000000"/>
                </a:solidFill>
              </a:rPr>
              <a:t>INSTRUCTIONS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We are going to work with different </a:t>
            </a:r>
            <a:r>
              <a:rPr lang="en-US" b="1" i="1" dirty="0"/>
              <a:t>Cross-Sections. </a:t>
            </a:r>
            <a:r>
              <a:rPr lang="en-US" dirty="0"/>
              <a:t>In general, we will need: </a:t>
            </a:r>
            <a:r>
              <a:rPr lang="en-US" b="1" i="1" dirty="0"/>
              <a:t>Materials</a:t>
            </a:r>
            <a:r>
              <a:rPr lang="en-US" dirty="0"/>
              <a:t> definitions and the </a:t>
            </a:r>
            <a:r>
              <a:rPr lang="en-US" b="1" dirty="0"/>
              <a:t>Geometrical</a:t>
            </a:r>
            <a:r>
              <a:rPr lang="en-US" dirty="0"/>
              <a:t> parameters of each Cross-section</a:t>
            </a:r>
            <a:r>
              <a:rPr lang="en-US" b="1" i="1" dirty="0"/>
              <a:t>.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99085AB-5BCA-5571-FA65-E3617707DBFA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17590B25-6ABE-9620-2C63-B4856DDBCE5D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12191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854026DA-C7BC-391A-30F9-BF8D7187210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1322832" y="0"/>
                </a:moveTo>
                <a:lnTo>
                  <a:pt x="769493" y="0"/>
                </a:lnTo>
                <a:lnTo>
                  <a:pt x="0" y="594359"/>
                </a:lnTo>
                <a:lnTo>
                  <a:pt x="553338" y="594359"/>
                </a:lnTo>
                <a:lnTo>
                  <a:pt x="1322832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0">
            <a:extLst>
              <a:ext uri="{FF2B5EF4-FFF2-40B4-BE49-F238E27FC236}">
                <a16:creationId xmlns:a16="http://schemas.microsoft.com/office/drawing/2014/main" id="{68F18FA1-D512-5553-8E16-C81F17B1FD4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0" y="594359"/>
                </a:moveTo>
                <a:lnTo>
                  <a:pt x="769493" y="0"/>
                </a:lnTo>
                <a:lnTo>
                  <a:pt x="1322832" y="0"/>
                </a:lnTo>
                <a:lnTo>
                  <a:pt x="553338" y="594359"/>
                </a:lnTo>
                <a:lnTo>
                  <a:pt x="0" y="594359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1">
            <a:extLst>
              <a:ext uri="{FF2B5EF4-FFF2-40B4-BE49-F238E27FC236}">
                <a16:creationId xmlns:a16="http://schemas.microsoft.com/office/drawing/2014/main" id="{B6F403B3-198D-766C-7FF5-06096D396DAF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B4F33324-81A2-6D30-47DD-7A67FD038073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5CE242A-CD6F-B6AA-8CF8-3F65AA839201}"/>
              </a:ext>
            </a:extLst>
          </p:cNvPr>
          <p:cNvSpPr/>
          <p:nvPr/>
        </p:nvSpPr>
        <p:spPr>
          <a:xfrm>
            <a:off x="659898" y="4205582"/>
            <a:ext cx="1858010" cy="1065530"/>
          </a:xfrm>
          <a:custGeom>
            <a:avLst/>
            <a:gdLst/>
            <a:ahLst/>
            <a:cxnLst/>
            <a:rect l="l" t="t" r="r" b="b"/>
            <a:pathLst>
              <a:path w="1858009" h="1065530">
                <a:moveTo>
                  <a:pt x="0" y="1065276"/>
                </a:moveTo>
                <a:lnTo>
                  <a:pt x="1857755" y="1065276"/>
                </a:lnTo>
                <a:lnTo>
                  <a:pt x="1857755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solidFill>
            <a:srgbClr val="7E7E7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E00C02E3-A945-AC3C-8DDF-4BF7E88C3196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9">
            <a:extLst>
              <a:ext uri="{FF2B5EF4-FFF2-40B4-BE49-F238E27FC236}">
                <a16:creationId xmlns:a16="http://schemas.microsoft.com/office/drawing/2014/main" id="{0ED35790-2683-BB1F-331A-34862F355D64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0">
            <a:extLst>
              <a:ext uri="{FF2B5EF4-FFF2-40B4-BE49-F238E27FC236}">
                <a16:creationId xmlns:a16="http://schemas.microsoft.com/office/drawing/2014/main" id="{C74C0B99-9868-5B85-03B4-95E6CF78D9A3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1324356" y="0"/>
                </a:moveTo>
                <a:lnTo>
                  <a:pt x="769493" y="0"/>
                </a:lnTo>
                <a:lnTo>
                  <a:pt x="0" y="594360"/>
                </a:lnTo>
                <a:lnTo>
                  <a:pt x="554863" y="594360"/>
                </a:lnTo>
                <a:lnTo>
                  <a:pt x="1324356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1">
            <a:extLst>
              <a:ext uri="{FF2B5EF4-FFF2-40B4-BE49-F238E27FC236}">
                <a16:creationId xmlns:a16="http://schemas.microsoft.com/office/drawing/2014/main" id="{0D0A668E-1248-C952-0D69-9AC115F5AEBD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0" y="594360"/>
                </a:moveTo>
                <a:lnTo>
                  <a:pt x="769493" y="0"/>
                </a:lnTo>
                <a:lnTo>
                  <a:pt x="1324356" y="0"/>
                </a:lnTo>
                <a:lnTo>
                  <a:pt x="554863" y="594360"/>
                </a:lnTo>
                <a:lnTo>
                  <a:pt x="0" y="59436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2">
            <a:extLst>
              <a:ext uri="{FF2B5EF4-FFF2-40B4-BE49-F238E27FC236}">
                <a16:creationId xmlns:a16="http://schemas.microsoft.com/office/drawing/2014/main" id="{9D87B857-066A-6AC9-C60A-5A69ADC38AAB}"/>
              </a:ext>
            </a:extLst>
          </p:cNvPr>
          <p:cNvSpPr/>
          <p:nvPr/>
        </p:nvSpPr>
        <p:spPr>
          <a:xfrm>
            <a:off x="993834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4" name="object 23">
            <a:extLst>
              <a:ext uri="{FF2B5EF4-FFF2-40B4-BE49-F238E27FC236}">
                <a16:creationId xmlns:a16="http://schemas.microsoft.com/office/drawing/2014/main" id="{218D47D4-6432-730D-48B9-7A6C6E31E473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3">
            <a:extLst>
              <a:ext uri="{FF2B5EF4-FFF2-40B4-BE49-F238E27FC236}">
                <a16:creationId xmlns:a16="http://schemas.microsoft.com/office/drawing/2014/main" id="{1ADEEC13-CD1C-B10C-519D-C80EDB6B6995}"/>
              </a:ext>
            </a:extLst>
          </p:cNvPr>
          <p:cNvSpPr txBox="1"/>
          <p:nvPr/>
        </p:nvSpPr>
        <p:spPr>
          <a:xfrm>
            <a:off x="1438790" y="5254855"/>
            <a:ext cx="1066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XY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Cross-section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321375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4058049" y="4276669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3402119" y="4503822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429579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481573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429579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629497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9104F8E7-45F4-CD32-78F2-E3303B105AF2}"/>
              </a:ext>
            </a:extLst>
          </p:cNvPr>
          <p:cNvSpPr/>
          <p:nvPr/>
        </p:nvSpPr>
        <p:spPr>
          <a:xfrm>
            <a:off x="2652837" y="4587205"/>
            <a:ext cx="390281" cy="177451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74927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83131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935125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83131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83049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749273" y="4983731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933783" y="4287133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591080" y="4982122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709867" y="5180039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9064251" y="4282997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664364" y="5549983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5280887" y="5549983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0.02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7461" y="6278549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860334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wavelength, comparison between different waveguide cross-sections 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viajan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core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también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consigue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fundamental TE0,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primer modo TM,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Segundo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híbrido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66%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tercero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TE. En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deep,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pesar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encuentra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soluciones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encuentra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fuezas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solo las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El modo 0 es TE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primero TM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85455" y="2671278"/>
            <a:ext cx="1980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8281672" y="2671278"/>
            <a:ext cx="17229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2989" y="440288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slab </a:t>
            </a:r>
            <a:r>
              <a:rPr lang="en-US" dirty="0"/>
              <a:t>= 150nm</a:t>
            </a:r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D1698D-2881-D596-E118-723A68479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276" y="1548974"/>
            <a:ext cx="5219700" cy="30448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FD87AA-111F-52B4-E3B7-56BD7CC35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90" y="1520851"/>
            <a:ext cx="4940629" cy="288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</TotalTime>
  <Words>400</Words>
  <Application>Microsoft Office PowerPoint</Application>
  <PresentationFormat>Widescreen</PresentationFormat>
  <Paragraphs>64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Lucida Sans</vt:lpstr>
      <vt:lpstr>Times New Roman</vt:lpstr>
      <vt:lpstr>Wingdings</vt:lpstr>
      <vt:lpstr>Office Theme</vt:lpstr>
      <vt:lpstr>PowerPoint Presentation</vt:lpstr>
      <vt:lpstr>Instructions General</vt:lpstr>
      <vt:lpstr>Learning outcome #1 – Effective index of a waveguide </vt:lpstr>
      <vt:lpstr>Learning outcome #2 – Wavelength behavior Wavelength 1.5-1.6 µm (step 0.02 µm) – width 1.2 µm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Mateo Regal Sevilla</cp:lastModifiedBy>
  <cp:revision>7</cp:revision>
  <dcterms:created xsi:type="dcterms:W3CDTF">2025-01-27T02:46:57Z</dcterms:created>
  <dcterms:modified xsi:type="dcterms:W3CDTF">2026-02-09T16:39:28Z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